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316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C2D44"/>
                </a:solidFill>
              </a:defRPr>
            </a:pPr>
            <a:r>
              <a:t>Advanced Flying Robots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316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A6069"/>
                </a:solidFill>
              </a:defRPr>
            </a:pPr>
            <a:r>
              <a:t>Current Progress Presentation #1 (CW3)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88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32A"/>
                </a:solidFill>
              </a:defRPr>
            </a:pPr>
            <a:r>
              <a:t>Geometric controller on hardware, onboard Rust trajectory execution, and motion-planning mode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27696"/>
                </a:solidFill>
              </a:defRPr>
            </a:pPr>
            <a:r>
              <a:t>Crazyflie 2.1 + optical flow + planning modes 0-3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Main Message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2D44"/>
                </a:solidFill>
              </a:defRPr>
            </a:pPr>
            <a:r>
              <a:t>The current stack has progressed from early geometric-controller tracking tests toward onboard Rust trajectory execution and a richer motion-planning comparison across modes 0-3.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80360"/>
            <a:ext cx="12070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14300">
              <a:spcAft>
                <a:spcPts val="500"/>
              </a:spcAft>
              <a:defRPr sz="1800">
                <a:solidFill>
                  <a:srgbClr val="1E232A"/>
                </a:solidFill>
              </a:defRPr>
            </a:pPr>
            <a:r>
              <a:t>The contribution is not only generating new reference trajectories.</a:t>
            </a:r>
          </a:p>
          <a:p>
            <a:pPr marL="228600" indent="-114300">
              <a:spcAft>
                <a:spcPts val="500"/>
              </a:spcAft>
              <a:defRPr sz="1800">
                <a:solidFill>
                  <a:srgbClr val="1E232A"/>
                </a:solidFill>
              </a:defRPr>
            </a:pPr>
            <a:r>
              <a:t>The stack also validates references with feasibility/limits plots, closed-loop simulation, and real-flight log analysis.</a:t>
            </a:r>
          </a:p>
          <a:p>
            <a:pPr marL="228600" indent="-114300">
              <a:spcAft>
                <a:spcPts val="500"/>
              </a:spcAft>
              <a:defRPr sz="1800">
                <a:solidFill>
                  <a:srgbClr val="1E232A"/>
                </a:solidFill>
              </a:defRPr>
            </a:pPr>
            <a:r>
              <a:t>The presentation compares both hardware progress and planning-mode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Geometric Controller On Hardware: Initial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069"/>
                </a:solidFill>
              </a:defRPr>
            </a:pPr>
            <a:r>
              <a:t>figure8_20260423_145011.csv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8_20260423_145011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036" y="1325880"/>
            <a:ext cx="4469487" cy="6126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7488936"/>
            <a:ext cx="6629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Main analysis</a:t>
            </a:r>
          </a:p>
        </p:txBody>
      </p:sp>
      <p:pic>
        <p:nvPicPr>
          <p:cNvPr id="7" name="Picture 6" descr="figure8_20260423_145011_3d_ori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107" y="1325880"/>
            <a:ext cx="5872465" cy="61264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7488936"/>
            <a:ext cx="6629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3D orientation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Geometric Controller On Hardware: Intermediate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069"/>
                </a:solidFill>
              </a:defRPr>
            </a:pPr>
            <a:r>
              <a:t>figure8_20260427_200834.csv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8_20260427_200834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036" y="1325880"/>
            <a:ext cx="4469487" cy="6126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7488936"/>
            <a:ext cx="6629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Main analysis</a:t>
            </a:r>
          </a:p>
        </p:txBody>
      </p:sp>
      <p:pic>
        <p:nvPicPr>
          <p:cNvPr id="7" name="Picture 6" descr="figure8_20260427_200834_3d_ori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107" y="1325880"/>
            <a:ext cx="5872465" cy="61264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7488936"/>
            <a:ext cx="6629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3D orientation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Best Current Hardware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069"/>
                </a:solidFill>
              </a:defRPr>
            </a:pPr>
            <a:r>
              <a:t>Geo controller + onboard Rust: figure8_onboard_m0_s1-0x_r1_20260506_162613.csv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8_onboard_m0_s1-0x_r1_20260506_162613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322" y="1234440"/>
            <a:ext cx="2168035" cy="2971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242816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Main analysis</a:t>
            </a:r>
          </a:p>
        </p:txBody>
      </p:sp>
      <p:pic>
        <p:nvPicPr>
          <p:cNvPr id="7" name="Picture 6" descr="figure8_onboard_m0_s1-0x_r1_20260506_162613_analysis_a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413" y="1234440"/>
            <a:ext cx="3529852" cy="297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4242816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Per-axis</a:t>
            </a:r>
          </a:p>
        </p:txBody>
      </p:sp>
      <p:pic>
        <p:nvPicPr>
          <p:cNvPr id="9" name="Picture 8" descr="figure8_onboard_m0_s1-0x_r1_20260506_162613_analysis_kinema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378" y="4526280"/>
            <a:ext cx="4367923" cy="2971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753465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Kinematics</a:t>
            </a:r>
          </a:p>
        </p:txBody>
      </p:sp>
      <p:pic>
        <p:nvPicPr>
          <p:cNvPr id="11" name="Picture 10" descr="figure8_onboard_m0_s1-0x_r1_20260506_162613_3d_orient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4959" y="4526280"/>
            <a:ext cx="2852760" cy="2971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0920" y="753465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3D orientation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Motion Planning: Figure-8 Across Modes (0-3)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3441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336"/>
                <a:gridCol w="2688336"/>
                <a:gridCol w="2688336"/>
                <a:gridCol w="2688336"/>
                <a:gridCol w="2688336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Core Idea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Attitude Source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Time Scaling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Base spline trajectory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Flatness-derived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Manual/basic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Full reference plot set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Richter-like min-snap with time allocation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Flatness-derived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k_t-based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Full reference plot set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Explicit SE(3): authored attitude +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Uploaded/explicit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Richter timing + SE(3)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Full reference plot set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Paper-faithful flat-output planning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Flatness-derived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Iterative/paper-style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Full reference plot set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3886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Modes 0/1/3 share the minimum-snap spline backbone: 8th-order polynomials and per-axis QPs for x, y, z, yaw.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Cross-axis physics is handled downstream through differential flatness, controller logic, and feasibility checks.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Mode 2 keeps the position-planning stack but changes the attitude source to explicit quaternion/SO(3) interpolation.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Concise Implementation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3075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Per-axis QP: robust, debuggable, and fast enough for iteration.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A joint QP becomes useful only when hard coupled constraints must be enforced directly in the optimizer.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Feasibility plots are planning-side model/proxy checks; hardware saturation claims still need logs or actuator telemetry.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Mode 2 uploads explicit attitude polynomials, while modes 0/1/3 derive attitude from flatness.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D44"/>
                </a:solidFill>
              </a:defRPr>
            </a:pPr>
            <a:r>
              <a:t>Mode 1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32A"/>
                </a:solidFill>
              </a:defRPr>
            </a:pPr>
            <a:r>
              <a:t>v_avg = 0.5 + 1.5 sqrt(k_t)</a:t>
            </a:r>
            <a:br/>
            <a:r>
              <a:t>T_i = max(||p_{i+1}-p_i|| / v_avg, 0.15 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38862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C2D44"/>
                </a:solidFill>
              </a:defRPr>
            </a:pPr>
            <a:r>
              <a:t>Mode 3 redistribution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29768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32A"/>
                </a:solidFill>
              </a:defRPr>
            </a:pPr>
            <a:r>
              <a:t>T_i_target = T_total J_i / sum_j J_j</a:t>
            </a:r>
            <a:br/>
            <a:r>
              <a:t>T_i &lt;- T_i + 0.5 (T_i_target - T_i)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Latest Figure-8 k_t Scan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298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32A"/>
                </a:solidFill>
              </a:defRPr>
            </a:pPr>
            <a:r>
              <a:t>The scan selected the largest sampled k_t values that stayed below target_utilization_max = 0.99. Values marked below_band are safe but below the tighter 0.95-0.99 target band.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560320"/>
          <a:ext cx="12801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  <a:gridCol w="3200400"/>
              </a:tblGrid>
              <a:tr h="4800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Figure-8 k_t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Scan Status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3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32A"/>
                          </a:solidFill>
                        </a:defRPr>
                      </a:pPr>
                      <a:r>
                        <a:t>0.3107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32A"/>
                          </a:solidFill>
                        </a:defRPr>
                      </a:pPr>
                      <a:r>
                        <a:t>below_band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32A"/>
                          </a:solidFill>
                        </a:defRPr>
                      </a:pPr>
                      <a:r>
                        <a:t>Highest safe sampled Richter timing value found for Figure-8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3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32A"/>
                          </a:solidFill>
                        </a:defRPr>
                      </a:pPr>
                      <a:r>
                        <a:t>3.9191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32A"/>
                          </a:solidFill>
                        </a:defRPr>
                      </a:pPr>
                      <a:r>
                        <a:t>below_band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32A"/>
                          </a:solidFill>
                        </a:defRPr>
                      </a:pPr>
                      <a:r>
                        <a:t>Highest safe sampled SE(3) timing value found for Figure-8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3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32A"/>
                          </a:solidFill>
                        </a:defRPr>
                      </a:pPr>
                      <a:r>
                        <a:t>0.7116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32A"/>
                          </a:solidFill>
                        </a:defRPr>
                      </a:pPr>
                      <a:r>
                        <a:t>below_band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32A"/>
                          </a:solidFill>
                        </a:defRPr>
                      </a:pPr>
                      <a:r>
                        <a:t>Highest safe sampled paper-style timing value found for Figure-8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Common Planning Backbone: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3441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0"/>
                <a:gridCol w="6720840"/>
              </a:tblGrid>
              <a:tr h="8534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Shared Aspect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Specific formulation / meaning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Waypoint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Given waypoints w_i, generate one polynomial segment between each pair and match segment endpoints.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Segment representation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p_s(t) = sum_{k=0}^{8} c_{s,k} t^k,  t in [0, T_s]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Minimum-snap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min sum_s integral_0^{T_s} || p_s^(4)(t) ||^2 dt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Per-axis QP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min_c 1/2 c^T Q c + q^T c  subject to  A_eq c = b_eq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Continuity constraints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A_eq c = b_eq enforces waypoint endpoints and derivative continuity at segment boundaries.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Common Planning Backbone: Flatness And Feasibility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3441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0"/>
                <a:gridCol w="6720840"/>
              </a:tblGrid>
              <a:tr h="8534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Shared Aspect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Specific formulation / meaning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Flat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Planned outputs are x, y, z, yaw and derivatives; modes 0/1/3 derive attitude afterwards.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Force direction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f = m(a + g e_3),  z_B = f / ||f||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Attitude 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x_C=[cos psi, sin psi, 0]^T; y_B=(z_B x x_C)/||z_B x x_C||; x_B=y_B x z_B; R=[x_B y_B z_B]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Feasibility checking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Sample thrust, angular velocity, torque/motor proxy, state axes, kinematics, and 3D orientation.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Downstream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32A"/>
                          </a:solidFill>
                        </a:defRPr>
                      </a:pPr>
                      <a:r>
                        <a:t>All modes feed the same simulator/controller/log-analysis chain, so plots can be compared mode-by-mode.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What Makes Each Mode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3807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1860"/>
                <a:gridCol w="3451860"/>
                <a:gridCol w="3451860"/>
                <a:gridCol w="3451860"/>
              </a:tblGrid>
              <a:tr h="1042416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What stands out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Exact / useful formulation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Plot focus</a:t>
                      </a:r>
                    </a:p>
                  </a:txBody>
                  <a:tcPr>
                    <a:solidFill>
                      <a:srgbClr val="1C2D44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0 Spline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Baseline min-snap with fixed segment 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T_s provided directly; optimizer solves coefficients only.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Fixed timing baseline.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1 Richter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Automatic k_t timing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v_avg=0.5+1.5 sqrt(k_t); T_i=max(||p_i+1-p_i||/v_avg,0.15)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Similar path, different timing/limits.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10424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2 SE(3)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Explicit authored attitude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q(s)=SLERP(q_i,q_i+1,s), s=t/T_i; roll/pitch polynomials fitted for upload.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3D orientation plot matters most.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3 Paper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Iterative time redistribution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T_i_target=T_total J_i/sum J_j; T_i &lt;- T_i+0.5(T_i_target-T_i)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32A"/>
                          </a:solidFill>
                        </a:defRPr>
                      </a:pPr>
                      <a:r>
                        <a:t>Compare local kinematics/limits vs Mode 1.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720840"/>
            <a:ext cx="1298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C2D44"/>
                </a:solidFill>
              </a:defRPr>
            </a:pPr>
            <a:r>
              <a:t>Key takeaway: the modes share the smooth-polynomial planning philosophy; the main differences are timing allocation and attitude source.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0: SplineTrajectory — Figure-8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069"/>
                </a:solidFill>
              </a:defRPr>
            </a:pPr>
            <a:r>
              <a:t>Baseline fixed-time minimum-snap trajectory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3108960" cy="6217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7488936"/>
            <a:ext cx="1316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Reference overview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0: SplineTrajectory — Limits And 3D Orientation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mit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6484"/>
            <a:ext cx="6720840" cy="5376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Limits dashboard</a:t>
            </a:r>
          </a:p>
        </p:txBody>
      </p:sp>
      <p:pic>
        <p:nvPicPr>
          <p:cNvPr id="6" name="Picture 5" descr="trajectory_3d_ori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525385"/>
            <a:ext cx="6720840" cy="54988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0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3D trajectory + orientation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0: SplineTrajectory — Kinematics And State Axes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nematics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20"/>
            <a:ext cx="672084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Kinematics axes</a:t>
            </a:r>
          </a:p>
        </p:txBody>
      </p:sp>
      <p:pic>
        <p:nvPicPr>
          <p:cNvPr id="6" name="Picture 5" descr="state_a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874520"/>
            <a:ext cx="672084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0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State axes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1: RichterTrajectory — Figure-8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069"/>
                </a:solidFill>
              </a:defRPr>
            </a:pPr>
            <a:r>
              <a:t>Minimum-snap with automatic k_t timing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3108960" cy="6217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7488936"/>
            <a:ext cx="1316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Reference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1: RichterTrajectory — Limits And 3D Orientation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mit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6484"/>
            <a:ext cx="6720840" cy="5376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Limits dashboard</a:t>
            </a:r>
          </a:p>
        </p:txBody>
      </p:sp>
      <p:pic>
        <p:nvPicPr>
          <p:cNvPr id="6" name="Picture 5" descr="trajectory_3d_ori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525385"/>
            <a:ext cx="6720840" cy="54988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0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3D trajectory + orientation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1: RichterTrajectory — Kinematics And State Axes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nematics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20"/>
            <a:ext cx="672084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Kinematics axes</a:t>
            </a:r>
          </a:p>
        </p:txBody>
      </p:sp>
      <p:pic>
        <p:nvPicPr>
          <p:cNvPr id="6" name="Picture 5" descr="state_a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874520"/>
            <a:ext cx="672084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0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State axes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2: Se3Trajectory — Figure-8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069"/>
                </a:solidFill>
              </a:defRPr>
            </a:pPr>
            <a:r>
              <a:t>Position planning plus explicit authored attitude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3108960" cy="6217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7488936"/>
            <a:ext cx="1316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Reference overview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2: Se3Trajectory — Limits And 3D Orientation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mit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6484"/>
            <a:ext cx="6720840" cy="5376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Limits dashboard</a:t>
            </a:r>
          </a:p>
        </p:txBody>
      </p:sp>
      <p:pic>
        <p:nvPicPr>
          <p:cNvPr id="6" name="Picture 5" descr="trajectory_3d_ori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525385"/>
            <a:ext cx="6720840" cy="54988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0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3D trajectory + orientation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2: Se3Trajectory — Kinematics And State Axes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nematics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20"/>
            <a:ext cx="672084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Kinematics axes</a:t>
            </a:r>
          </a:p>
        </p:txBody>
      </p:sp>
      <p:pic>
        <p:nvPicPr>
          <p:cNvPr id="6" name="Picture 5" descr="state_a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874520"/>
            <a:ext cx="672084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0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State axes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3: Paper / PaperRichterTrajectory — Figure-8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325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069"/>
                </a:solidFill>
              </a:defRPr>
            </a:pPr>
            <a:r>
              <a:t>Richter-family planner plus iterative time redistribution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3108960" cy="6217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7488936"/>
            <a:ext cx="1316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Reference overview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3: Paper / PaperRichterTrajectory — Limits And 3D Orientation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mit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6484"/>
            <a:ext cx="6720840" cy="5376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Limits dashboard</a:t>
            </a:r>
          </a:p>
        </p:txBody>
      </p:sp>
      <p:pic>
        <p:nvPicPr>
          <p:cNvPr id="6" name="Picture 5" descr="trajectory_3d_ori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525385"/>
            <a:ext cx="6720840" cy="54988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0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3D trajectory + orientation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3: Paper / PaperRichterTrajectory — Kinematics And State Axes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inematics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20"/>
            <a:ext cx="672084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Kinematics axes</a:t>
            </a:r>
          </a:p>
        </p:txBody>
      </p:sp>
      <p:pic>
        <p:nvPicPr>
          <p:cNvPr id="6" name="Picture 5" descr="state_a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874520"/>
            <a:ext cx="672084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60920" y="7351775"/>
            <a:ext cx="6720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069"/>
                </a:solidFill>
              </a:defRPr>
            </a:pPr>
            <a:r>
              <a:t>State axes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0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3075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Description: baseline piecewise polynomial trajectory with fixed segment durations.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Formulation: minimum-snap polynomial solve with waypoint + continuity constraints.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QP view: solve quadratic cost over polynomial coefficients with equality constraints.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Continuity: position, velocity, acceleration, and higher derivatives remain smooth at segment boundaries.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Attitude: derived via differential flatness from x, y, z, yaw.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C2D44"/>
                </a:solidFill>
              </a:defRPr>
            </a:pPr>
            <a:r>
              <a:t>Core objective: min sum_s integral_0^{T_s} || d^4 p_s(t)/dt^4 ||^2 dt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C2D44"/>
                </a:solidFill>
              </a:defRPr>
            </a:pPr>
            <a:r>
              <a:t>Canonical QP: min_c 1/2 c^T Q c + q^T c, subject to A_eq c = b_eq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1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3075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Description: Richter-style minimum-snap with automatic segment timing from k_t.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Formulation: same polynomial/QP structure as Mode 0, with time allocation coupled via aggressiveness.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Time allocation: segment durations depend on geometry and k_t.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Attitude: differential-flatness-derived; no explicit attitude waypoint authoring.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Main comparison: Mode 1 is Mode 0 plus automatic timing from one aggressiveness knob.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C2D44"/>
                </a:solidFill>
              </a:defRPr>
            </a:pPr>
            <a:r>
              <a:t>Core objective: min sum_s integral_0^{T_s} || d^4 p_s(t)/dt^4 ||^2 dt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C2D44"/>
                </a:solidFill>
              </a:defRPr>
            </a:pPr>
            <a:r>
              <a:t>Canonical QP: min_c 1/2 c^T Q c + q^T c, subject to A_eq c = b_eq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2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3075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Description: explicit SE(3) trajectory generation with authored attitude path capability.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Formulation: position/timing baseline from Richter-like durations, then SE(3) attitude construction and derivatives.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QP view: not the same flat-only reduced QP path as modes 0/1/3; attitude is explicitly represented.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Attitude: explicit quaternion/SO(3) interpolation, then attitude polynomials for upload/evaluation.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Main comparison: path may resemble Mode 1, but body orientation is intentionally authored.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C2D44"/>
                </a:solidFill>
              </a:defRPr>
            </a:pPr>
            <a:r>
              <a:t>Core objective: min sum_s integral_0^{T_s} || d^4 p_s(t)/dt^4 ||^2 dt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C2D44"/>
                </a:solidFill>
              </a:defRPr>
            </a:pPr>
            <a:r>
              <a:t>Canonical QP: min_c 1/2 c^T Q c + q^T c, subject to A_eq c = b_eq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Mode 3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3075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Description: paper-faithful flat-output minimum-snap planning with stronger timing coupling behavior.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Formulation: flat-output polynomial minimum-snap with continuity/endpoint constraints and iterative timing refinement.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QP view: Richter-family constrained QP structure with paper-style timing redistribution emphasis.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Attitude: emergent from differential flatness, not explicitly authored.</a:t>
            </a:r>
          </a:p>
          <a:p>
            <a:pPr marL="228600" indent="-114300">
              <a:spcAft>
                <a:spcPts val="500"/>
              </a:spcAft>
              <a:defRPr sz="1700">
                <a:solidFill>
                  <a:srgbClr val="1E232A"/>
                </a:solidFill>
              </a:defRPr>
            </a:pPr>
            <a:r>
              <a:t>Main comparison: Mode 3 is Mode 1 plus iterative segment-time redistribution based on segment snap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C2D44"/>
                </a:solidFill>
              </a:defRPr>
            </a:pPr>
            <a:r>
              <a:t>Core objective: min sum_s integral_0^{T_s} || d^4 p_s(t)/dt^4 ||^2 dt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C2D44"/>
                </a:solidFill>
              </a:defRPr>
            </a:pPr>
            <a:r>
              <a:t>Canonical QP: min_c 1/2 c^T Q c + q^T c, subject to A_eq c = b_eq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362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C2D44"/>
                </a:solidFill>
              </a:defRPr>
            </a:pPr>
            <a:r>
              <a:t>Current 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24712"/>
            <a:ext cx="13624560" cy="18288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3075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14300">
              <a:spcAft>
                <a:spcPts val="500"/>
              </a:spcAft>
              <a:defRPr sz="1800">
                <a:solidFill>
                  <a:srgbClr val="1E232A"/>
                </a:solidFill>
              </a:defRPr>
            </a:pPr>
            <a:r>
              <a:t>Planning plots are model/proxy checks; final hardware claims should be based on real flight logs and actuator telemetry where available.</a:t>
            </a:r>
          </a:p>
          <a:p>
            <a:pPr marL="228600" indent="-114300">
              <a:spcAft>
                <a:spcPts val="500"/>
              </a:spcAft>
              <a:defRPr sz="1800">
                <a:solidFill>
                  <a:srgbClr val="1E232A"/>
                </a:solidFill>
              </a:defRPr>
            </a:pPr>
            <a:r>
              <a:t>Next validation step: fly selected Mode 1/2/3 Figure-8 trajectories with updated k_t values and compare against the onboard Mode 0 baseline.</a:t>
            </a:r>
          </a:p>
          <a:p>
            <a:pPr marL="228600" indent="-114300">
              <a:spcAft>
                <a:spcPts val="500"/>
              </a:spcAft>
              <a:defRPr sz="1800">
                <a:solidFill>
                  <a:srgbClr val="1E232A"/>
                </a:solidFill>
              </a:defRPr>
            </a:pPr>
            <a:r>
              <a:t>INDI remains the next major control-side topic; current results mainly demonstrate geometric-controller behavior and planning-stack progress.</a:t>
            </a:r>
          </a:p>
          <a:p>
            <a:pPr marL="228600" indent="-114300">
              <a:spcAft>
                <a:spcPts val="500"/>
              </a:spcAft>
              <a:defRPr sz="1800">
                <a:solidFill>
                  <a:srgbClr val="1E232A"/>
                </a:solidFill>
              </a:defRPr>
            </a:pPr>
            <a:r>
              <a:t>Use dense kinematics/state plots as backup slides for deeper technical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C2D44"/>
                </a:solidFill>
              </a:defRPr>
            </a:pPr>
            <a:r>
              <a:t>Takeaway: same smooth-polynomial backbone, different timing and attitude choices, validated before hardware by reference, limits, simulation, and log-analysis plots.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